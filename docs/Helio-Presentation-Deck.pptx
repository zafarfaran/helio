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SATURN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t>HELIO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6B6D4"/>
                </a:solidFill>
                <a:latin typeface="Calibri"/>
              </a:defRPr>
            </a:pPr>
            <a:r>
              <a:t>Tax Planning, Reimagined.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AI-powered tax planning for UK financial advisers.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THE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Tax planning today is slow, manual, and risky.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004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004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45-90 mins per client pulling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data from HMRC, SA302s, P60s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200 clients = 200+ hours/year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just on tax analysis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That's 5 working weeks gone.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2004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PA taper creates a 60% effective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marginal rate: £100k-£125,140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One missed pension top-up 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thousands lost per year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Still done in Excel, by hand.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2004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200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RISKY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FCA Consumer Duty requires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evidence of good outcomes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Every missed optimisation is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money lost + compliance risk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Planning is reactive, not proactive.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45-90 mins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52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 client on manual tax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200+ hours/yr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852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wasted on data gathering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£5k-£12.5k+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852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missed per client when PA taper goes unoptimised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THE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conversational tax planning platform</a:t>
            </a:r>
            <a:br/>
            <a:r>
              <a:t>for UK financial advisers.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3200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3200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6888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INSTANT TAX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Full UK tax computation</a:t>
            </a:r>
            <a:br/>
            <a:r>
              <a:t>in seconds.</a:t>
            </a:r>
            <a:br/>
            <a:br/>
            <a:r>
              <a:t>Income tax bands, NI,</a:t>
            </a:r>
            <a:br/>
            <a:r>
              <a:t>Personal Allowance, ANI —</a:t>
            </a:r>
            <a:br/>
            <a:r>
              <a:t>calculated, not guessed.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94560"/>
            <a:ext cx="3200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94560"/>
            <a:ext cx="3200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46888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SCENARIO MODELLING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71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Salary sacrifice, pension</a:t>
            </a:r>
            <a:br/>
            <a:r>
              <a:t>contributions, SIPP top-ups.</a:t>
            </a:r>
            <a:br/>
            <a:br/>
            <a:r>
              <a:t>Instant before/after with</a:t>
            </a:r>
            <a:br/>
            <a:r>
              <a:t>exact savings — to the penny.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3200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5320" y="24688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PROACTIVE 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71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Auto-flags opportunities</a:t>
            </a:r>
            <a:br/>
            <a:r>
              <a:t>you'd otherwise miss.</a:t>
            </a:r>
            <a:br/>
            <a:br/>
            <a:r>
              <a:t>PA taper, HICBC, unused</a:t>
            </a:r>
            <a:br/>
            <a:r>
              <a:t>pension headroom, expiring</a:t>
            </a:r>
            <a:br/>
            <a:r>
              <a:t>allowances.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All through natural language. Just ask in plain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THE CRITICAL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AI does NOT compute the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029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AI (Claude)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 Understands the question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 Pulls client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 Narrates the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Deterministic Tax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889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 Calculates every figure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 Band by band, penny by penny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 Pure code. Auditable. Reproducible.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4A3B8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Calibri"/>
              </a:defRPr>
            </a:pPr>
            <a:r>
              <a:t>"A tax engine with a conversational interface — not a chatbot guessing at tax."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Same inputs, same outputs, every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large, growing, and underserved market.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200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B82F6"/>
                </a:solidFill>
                <a:latin typeface="Calibri"/>
              </a:defRPr>
            </a:pPr>
            <a:r>
              <a:t>27,000+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registered UK</a:t>
            </a:r>
            <a:br/>
            <a:r>
              <a:t>financial advisers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200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Calibri"/>
              </a:defRPr>
            </a:pPr>
            <a:r>
              <a:t>£7.1B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UK financial advice</a:t>
            </a:r>
            <a:br/>
            <a:r>
              <a:t>sector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920240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9E0B"/>
                </a:solidFill>
                <a:latin typeface="Calibri"/>
              </a:defRPr>
            </a:pPr>
            <a:r>
              <a:t>$772M → $1.84B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UK tax software market</a:t>
            </a:r>
            <a:br/>
            <a:r>
              <a:t>by 2035 (8.2% CAGR)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Three tailwinds driving demand: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32004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FCA Consumer Duty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Advisers must prove good outcomes with evidence and audit trails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114800"/>
            <a:ext cx="32004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Making Tax Digital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572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Expanding to sole traders/landlords (£50k+) from April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114800"/>
            <a:ext cx="320040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Sector Consolidation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572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Fewer, larger firms investing in tech — 60-80% admin reduction with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The gap: No tool offers AI-driven conversational tax planning with deterministic computation for UK tax.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Voyant, cashCalc, Truth → cashflow &amp; retirement modelling. Not conversational tax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Let's see Helio in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00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200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Load the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ASK: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"What's Sarah's current</a:t>
            </a:r>
            <a:br/>
            <a:r>
              <a:t>tax position?"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RESULT: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Dashboard streams in:</a:t>
            </a:r>
            <a:br/>
            <a:r>
              <a:t>tax donut, waterfall chart,</a:t>
            </a:r>
            <a:br/>
            <a:r>
              <a:t>band breakdown, allowances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"Every number here came from</a:t>
            </a:r>
            <a:br/>
            <a:r>
              <a:t>the deterministic engine,</a:t>
            </a:r>
            <a:br/>
            <a:r>
              <a:t>not the AI."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011680"/>
            <a:ext cx="3200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01168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Surface 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26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ASK: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"Are there any savings</a:t>
            </a:r>
            <a:br/>
            <a:r>
              <a:t>opportunities?"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40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RESULT: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23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Observations auto-appear:</a:t>
            </a:r>
            <a:br/>
            <a:r>
              <a:t>• PA taper flag (60% zone)</a:t>
            </a:r>
            <a:br/>
            <a:r>
              <a:t>• HICBC exposure</a:t>
            </a:r>
            <a:br/>
            <a:r>
              <a:t>• Unused pension headroom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120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"Three opportunities found</a:t>
            </a:r>
            <a:br/>
            <a:r>
              <a:t>in under 10 seconds."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011680"/>
            <a:ext cx="32004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011680"/>
            <a:ext cx="3200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 the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926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ASK: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108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"Model an £8,000 SIPP</a:t>
            </a:r>
            <a:br/>
            <a:r>
              <a:t>contribution."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840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RESULT: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023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Side-by-side comparison:</a:t>
            </a:r>
            <a:br/>
            <a:r>
              <a:t>• Income tax saved</a:t>
            </a:r>
            <a:br/>
            <a:r>
              <a:t>• PA restored</a:t>
            </a:r>
            <a:br/>
            <a:r>
              <a:t>• Total benefit breakdown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120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  <a:latin typeface="Calibri"/>
              </a:defRPr>
            </a:pPr>
            <a:r>
              <a:t>"Same inputs, same outputs,</a:t>
            </a:r>
            <a:br/>
            <a:r>
              <a:t>every time."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Demo backup: Screenshots on next slide if needed. Rehearse 2-3 times. Talk architecture during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before and after.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BEFORE HELIO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WITH HELIO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0698480" cy="50292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Tax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Calibri"/>
              </a:defRPr>
            </a:pPr>
            <a:r>
              <a:t>45-90 mins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~2 mins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106984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27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Scenario modelling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27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Calibri"/>
              </a:defRPr>
            </a:pPr>
            <a:r>
              <a:t>15-30 mins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27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40"/>
            <a:ext cx="10698480" cy="50292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Missed optimisations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22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Calibri"/>
              </a:defRPr>
            </a:pPr>
            <a:r>
              <a:t>Common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822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Auto-flagged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Three words: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663440"/>
            <a:ext cx="32004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3200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Faster.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Minutes, not hours.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663440"/>
            <a:ext cx="32004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663440"/>
            <a:ext cx="3200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Accurate.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Deterministic, not guesswork.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663440"/>
            <a:ext cx="32004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66344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Smarter.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Auto-surfaced, not missed.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897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B6D4"/>
                </a:solidFill>
                <a:latin typeface="Calibri"/>
              </a:defRPr>
            </a:pPr>
            <a:r>
              <a:t>"Helio doesn't replace the adviser. It makes the adviser superhuman."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SPEAKER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Sticky phrases to repeat throughout.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2140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"/>
              </a:defRPr>
            </a:pPr>
            <a:r>
              <a:t>"The AI never computes a single tax figure."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94436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44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"/>
              </a:defRPr>
            </a:pPr>
            <a:r>
              <a:t>"Same inputs, same outputs, every time."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76732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673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"/>
              </a:defRPr>
            </a:pPr>
            <a:r>
              <a:t>"Minutes, not hours."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10698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59028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"/>
              </a:defRPr>
            </a:pPr>
            <a:r>
              <a:t>"A tax engine with a conversational interface — not a chatbot guessing at tax."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541324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4132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"/>
              </a:defRPr>
            </a:pPr>
            <a:r>
              <a:t>"Helio doesn't replace the adviser. It makes the adviser superhuman."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solidFill>
            <a:srgbClr val="2D1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97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t>Demo tip: Rehearse 2-3 times. Talk architecture during latency. Have screenshot backup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